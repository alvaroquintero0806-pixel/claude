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3B241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3B2418"/>
                </a:solidFill>
                <a:latin typeface="Arial"/>
              </a:rPr>
              <a:t>Evolución del costo fijo ($)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Gastos del día a día</c:v>
                </c:pt>
              </c:strCache>
            </c:strRef>
          </c:tx>
          <c:spPr>
            <a:solidFill>
              <a:srgbClr val="C87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900000</c:v>
                </c:pt>
                <c:pt idx="1">
                  <c:v>865600</c:v>
                </c:pt>
                <c:pt idx="2">
                  <c:v>1350000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Intereses y multas</c:v>
                </c:pt>
              </c:strCache>
            </c:strRef>
          </c:tx>
          <c:spPr>
            <a:solidFill>
              <a:srgbClr val="B23A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188700</c:v>
                </c:pt>
                <c:pt idx="2">
                  <c:v>712500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CD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por litro</c:v>
                </c:pt>
              </c:strCache>
            </c:strRef>
          </c:tx>
          <c:spPr>
            <a:solidFill>
              <a:srgbClr val="C8793A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B24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79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79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Precio máximo</c:v>
                  </c:pt>
                  <c:pt idx="1">
                    <c:v>Precio mínimo</c:v>
                  </c:pt>
                  <c:pt idx="2">
                    <c:v>Costo medio por litro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1350</c:v>
                </c:pt>
                <c:pt idx="1">
                  <c:v>1200</c:v>
                </c:pt>
                <c:pt idx="2">
                  <c:v>2348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B24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24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 del período</c:v>
                </c:pt>
              </c:strCache>
            </c:strRef>
          </c:tx>
          <c:spPr>
            <a:solidFill>
              <a:srgbClr val="C87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-1882360</c:v>
                </c:pt>
                <c:pt idx="1">
                  <c:v>-2412940</c:v>
                </c:pt>
                <c:pt idx="2">
                  <c:v>-2388285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Resultado acumulado</c:v>
                </c:pt>
              </c:strCache>
            </c:strRef>
          </c:tx>
          <c:spPr>
            <a:solidFill>
              <a:srgbClr val="B23A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Período 1</c:v>
                  </c:pt>
                  <c:pt idx="1">
                    <c:v>Período 2</c:v>
                  </c:pt>
                  <c:pt idx="2">
                    <c:v>Período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-1882360</c:v>
                </c:pt>
                <c:pt idx="1">
                  <c:v>-4295300</c:v>
                </c:pt>
                <c:pt idx="2">
                  <c:v>-6683585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CD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5A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Presentamos Cremoso Antojo, nuestra empresa de postres de leche artesanales en el simulador Global Sym. Equipo: Álvaro Quintero, Brando Barreto y Vicente Sánchez.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Resumen: sector competitivo y atomizado; resultados negativos por costos sobre precios; sin deuda; logramos bajar casi por completo las pérdidas por productos vencidos.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Presentamos la empresa, a qué mercado pertenecemos, clientes y competidores, visión y misión, y cómo manejamos costos y resultados en 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Somos parte del sector de lácteos dulces. Un solo mercado con 14 empresas: es atomizado en oferta, demanda y proveedores, y la rivalidad es intensa. Clientes: personas que compran en nuestros locales. Proveedores: las otras empresas del mercado. Sustitutos: otros postres y snacks dulces. Barrera de entrada moderada (fábrica de $3.000.000, 30% del capital) y barrera de salida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Nuestra oferta va dirigida a tres grupos de clientes: familias, jóvenes y adultos que consumen postres y yogurt, y locales comerciales que buscan un proveedor confiable. Cumplimos cuatro funciones para la sociedad: darse un gusto dulce con sabor casero, la conveniencia de algo listo para comer, un alimento lácteo fresco y confiable, y el abastecimiento de locales que revenden. Tecnología: fábrica propia con turnos, mantención y control de calidad, y cadena de frío. Competimos por costos. Los líderes combinan precio, marketing, locales, calidad e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Brando Barreto
La visión apunta a ser la marca favorita de la región; la misión describe qué hacemos y para quién.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Brando Barreto
Aquí explicamos por qué nuestra visión, misión y objetivos son coherentes. La visión dice a dónde queremos llegar: ser la marca de postres de leche favorita de la región, reconocida por calidad e innovación. La misión dice qué hacemos hoy y para quién: postres de calidad, caseros, frescos y con trato cercano, para familias y amantes del dulce. Los objetivos son el cómo y el cuándo: (1) aumentar ventas el primer año sin bajar la calidad nos acerca a ser la marca favorita; (2) producir más eficiente en seis períodos protege la calidad de la misión con menores costos; (3) escuchar a los clientes concreta el trato cercano; (4) dar a conocer la marca en dos años es condición para ser la favorita de la región. Cada objetivo tiene plazo y responsable, y todos apuntan al objetivo general: posicionar a Cremoso Antojo como la marca preferida de la región.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Brando Barreto
Relacionamos cada objetivo con sus grupos de interés. Objetivo 1, aumentar ventas: clientes (les vendemos más), competencia (le ganamos mercado) y el equipo, que decide precio y publicidad. Objetivo 2, producir más eficiente: trabajadores de producción (producen bien y bajan costos), proveedores (insumos a buen costo), bancos (con costos sanos tenemos respaldo si necesitamos crédito) y el Estado (normas sanitarias). Objetivo 3, clientes contentos: los clientes, a quienes escuchamos, y el equipo, con cercanía y confianza. Objetivo 4, dar a conocer la marca: clientes, que nos reconocen, y competencia, frente a la que nos diferenciamos. Stakeholders internos: equipo y trabajadores. Externos: clientes, proveedores, competencia, bancos y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Brando Barreto
Cada área tiene un responsable que toma las decisiones de su ámbito y coordina con las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Vicente Sánchez
Costos fijos: se pagan produzcamos mucho o poco. Lo más preocupante es el alza de intereses, comisiones y multas, de 0 a 712.500.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Vicente Sánchez
Costos variables: suben o bajan según producción y ventas. El CUV del yogurt es casi el doble del de los postres porque no lo fabricamos.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Vicente Sánchez
Costo total = fijo + variable. Dato aparte: los vencidos bajaron de 1.004.106 en P1 a 14.765 en P3; no los contamos como costo fijo ni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Los períodos 1 a 3 corresponden a las semanas de juego real (se partió desde el período cero). Resultado del último período: -2.388.285; acumulado: -6.683.585, más de la mitad del capital inicial. ROA = resultado / activos; ROE = resultado / patrimonio. Son iguales porque no tenemos deuda, así que activos y patrimonio son lo mismo. Empeoran cada período: -23%, -42% y -72%.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Álvaro Quintero
Además pagamos 712.500 en multas y comisiones en P3. La caja es la principal alerta.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Brando Barreto
Cada integrante lideró su área. Somos autocríticos respecto a la coordinación inicial entre producir y vender.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Vicente Sánchez
Internamente el problema fue la planificación de la producción; externamente, los cobros de intereses, comisiones y multas.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Vicente Sánchez
Cuatro aprendizajes concretos que guiarán las próximas decisiones del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Brando Barreto
La teoría de costos, rentabilidad y sector industrial se vio directamente en las decisiones del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Vicente Sánchez
Partimos con 10 millones y sin deuda, pero los gastos superaron los ingresos. Lo positivo: bajamos los vencidos. Próximos pasos: precios, multas y foco en postres.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097280"/>
            <a:ext cx="4572000" cy="4572000"/>
          </a:xfrm>
          <a:prstGeom prst="ellipse">
            <a:avLst/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2926080"/>
            <a:ext cx="2926080" cy="2926080"/>
          </a:xfrm>
          <a:prstGeom prst="ellipse">
            <a:avLst/>
          </a:prstGeom>
          <a:solidFill>
            <a:srgbClr val="C8793A">
              <a:alpha val="80000"/>
            </a:srgbClr>
          </a:solidFill>
          <a:ln w="12700">
            <a:solidFill>
              <a:srgbClr val="C8793A">
                <a:alpha val="8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DE NEGOCIOS GLOBAL SYM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60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Cremoso Antojo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y análisis de la empresa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060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Álvaro Quintero · Brando Barreto · Vicente Sánchez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Cristian Rodrigo Catalán Osorio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Antonio Varas · 22/09/2026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x/word/media/image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416552"/>
            <a:ext cx="1883664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períodos de aprendizaje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Fabricamos postres de leche artesanales y revendemos yogurt en un sector atomizado de 14 empresas.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Nuestros costos superaron a los ingresos: el costo medio por litro ($2.348) está sobre el precio de venta ($1.200–$1.350).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100% con capital propio, sin deuda bancaria.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próximo: ajustar precios, evitar multas y comisiones, y evaluar dejar de revender yogurt.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3258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00600" y="15087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-$6.683.585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80060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acumulada (P1–P3)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720840" y="132588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5087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-72%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0574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y ROA en el Período 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9718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E4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$2.348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medio por litro vs precio $1.200–$1.350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20840" y="29718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31546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7D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-98,5%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por vencidos: de $1.004.106 a $14.765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¿Quiénes somos?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hace y vende postres de leche artesanales: recetas tradicionales con una imagen y calidad más moderna.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3172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457450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Fresco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Ingredientes frescos y cadena de frío para lácteos.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21488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233172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0" y="245745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1480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Cremoso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Textura y calidad cuidadas en producción propia.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14884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233172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245745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0372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Casero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9718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Sabor tradicional y trato cercano con el cliente.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esta presentación: sector y negocio · visión y organización · costos · resultados en el simulador · aprendizajes y conclusiones.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INDUSTRIAL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mercado atomizado y competitivo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4475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547622"/>
            <a:ext cx="205740" cy="2057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14447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99339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Lácteos dulces: yogurt y postres de leche.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37460" y="128016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74620" y="144475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490" y="1547622"/>
            <a:ext cx="205740" cy="2057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177540" y="14447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Amplitud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674620" y="199339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mercado, sin divisiones por zona.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128016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754880" y="144475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547622"/>
            <a:ext cx="205740" cy="2057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57800" y="14447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Competidores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754880" y="199339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empresas; rivalidad intensa en precio, calidad y marketing.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697980" y="128016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835140" y="144475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0" y="1547622"/>
            <a:ext cx="205740" cy="2057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38060" y="14447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Atomizado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835140" y="199339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oferta, demanda y proveedores: nadie domina.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292608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94360" y="309067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230" y="3193542"/>
            <a:ext cx="205740" cy="2057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97280" y="309067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594360" y="363931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que compran en nuestros locales.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2537460" y="292608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2674620" y="309067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7490" y="3193542"/>
            <a:ext cx="205740" cy="20574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177540" y="309067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Proveedores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2674620" y="363931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otras empresas del mercado, si nos falta producto.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617720" y="292608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4754880" y="309067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750" y="3193542"/>
            <a:ext cx="205740" cy="2057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257800" y="309067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Sustitutos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4754880" y="363931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postres y snacks dulces: helados, repostería.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6697980" y="2926080"/>
            <a:ext cx="1943100" cy="1508760"/>
          </a:xfrm>
          <a:prstGeom prst="roundRect">
            <a:avLst>
              <a:gd name="adj" fmla="val 4848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6835140" y="3090672"/>
            <a:ext cx="411480" cy="41148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010" y="3193542"/>
            <a:ext cx="205740" cy="20574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7338060" y="309067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Barreras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6835140" y="3639312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moderada: fábrica $3 MM (30% del capital). Salida baja.</a:t>
            </a:r>
            <a:endParaRPr lang="en-US" sz="1050" dirty="0"/>
          </a:p>
        </p:txBody>
      </p:sp>
      <p:sp>
        <p:nvSpPr>
          <p:cNvPr id="44" name="Text 3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45" name="Text 3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NEGOCIO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Clientes, necesidades y tecnologías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CLIENTES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03120" y="1508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03120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Jóvenes y adultos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15087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1508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Locales comerciales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945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NECESIDADES QUE SATISFACEMOS · ROL EN LA SOCIEDAD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87168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84048" cy="384048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2720340"/>
            <a:ext cx="192024" cy="19202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69848" y="26243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Darse un gusto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69848" y="28986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dulce, rico y con sabor casero.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926080" y="2487168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3240" y="2624328"/>
            <a:ext cx="384048" cy="384048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252" y="2720340"/>
            <a:ext cx="192024" cy="19202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3538728" y="26243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Conveniencia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538728" y="28986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comer, sin tener que prepararlo.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57200" y="3493008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94360" y="3630168"/>
            <a:ext cx="384048" cy="384048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726180"/>
            <a:ext cx="192024" cy="19202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069848" y="36301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Alimento confiable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69848" y="39044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Lácteos frescos, de calidad y seguros.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2926080" y="3493008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3063240" y="3630168"/>
            <a:ext cx="384048" cy="384048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9252" y="3726180"/>
            <a:ext cx="192024" cy="19202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538728" y="36301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Abastecimiento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3538728" y="39044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 confiable para locales que revenden.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440680" y="1234440"/>
            <a:ext cx="3246120" cy="3264408"/>
          </a:xfrm>
          <a:prstGeom prst="roundRect">
            <a:avLst>
              <a:gd name="adj" fmla="val 2254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669280" y="14173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5669280" y="16733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 propia con turnos, mantención y control de calidad; refrigeración para lácteos; compra y transporte de yogurt.</a:t>
            </a:r>
            <a:endParaRPr lang="en-US" sz="1150" dirty="0"/>
          </a:p>
        </p:txBody>
      </p:sp>
      <p:sp>
        <p:nvSpPr>
          <p:cNvPr id="35" name="Text 29"/>
          <p:cNvSpPr txBox="1"/>
          <p:nvPr/>
        </p:nvSpPr>
        <p:spPr>
          <a:xfrm>
            <a:off x="5669280" y="25603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COMPETIMOS</a:t>
            </a:r>
            <a:endParaRPr lang="en-US" sz="1000" dirty="0"/>
          </a:p>
        </p:txBody>
      </p:sp>
      <p:sp>
        <p:nvSpPr>
          <p:cNvPr id="36" name="Text 30"/>
          <p:cNvSpPr txBox="1"/>
          <p:nvPr/>
        </p:nvSpPr>
        <p:spPr>
          <a:xfrm>
            <a:off x="5669280" y="28163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costos: precios bajos para vender más volumen.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5669280" y="33375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DEL LÍDER</a:t>
            </a:r>
            <a:endParaRPr lang="en-US" sz="1000" dirty="0"/>
          </a:p>
        </p:txBody>
      </p:sp>
      <p:sp>
        <p:nvSpPr>
          <p:cNvPr id="38" name="Text 32"/>
          <p:cNvSpPr txBox="1"/>
          <p:nvPr/>
        </p:nvSpPr>
        <p:spPr>
          <a:xfrm>
            <a:off x="5669280" y="35935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precio, marketing constante, suficientes locales, calidad e imagen acumulada.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Y MISIÓN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94360" cy="59436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108710"/>
            <a:ext cx="297180" cy="2971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241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Visión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“Llegar a ser la marca de postres de leche favorita de la región, reconocida por su calidad y por innovar sin perder el sabor tradicional.”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46320" y="960120"/>
            <a:ext cx="594360" cy="59436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910" y="110871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23560" y="10241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Misión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6916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“Hacer y vender postres de leche ricos y de calidad, pensados para familias y amantes del dulce de siempre, con sabor casero, ingredientes frescos y trato cercano.”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Valores: </a:t>
            </a:r>
            <a:pPr indent="0" marL="0">
              <a:buNone/>
            </a:pPr>
            <a:r>
              <a:rPr lang="en-US" sz="14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cercanía, confianza, accesibilidad e integridad.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INTERNA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Visión, misión y objetivos: coherencia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· A DÓNDE VAMOS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54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la marca de postres de leche favorita de la región, por calidad e innovación.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054096" y="1527048"/>
            <a:ext cx="201168" cy="274320"/>
          </a:xfrm>
          <a:prstGeom prst="rightArrow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123444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 · QUÉ HACEMOS Y PARA QUIÉN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554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Postres de leche de calidad, caseros y frescos, con trato cercano.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88736" y="1527048"/>
            <a:ext cx="201168" cy="274320"/>
          </a:xfrm>
          <a:prstGeom prst="rightArrow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32588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· CÓMO Y CUÁNDO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554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concretas con plazo y responsable que nos llevan a la visión.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143000"/>
                <a:gridCol w="1600200"/>
                <a:gridCol w="3154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es coherente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Aumentar las ventas sin bajar la calidad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año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y Ventas (B. Barreto)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Crecer es el camino a ser la “marca favorita”, sin perder la calidad de la misión.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Producir más eficiente sin afectar el producto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Primeros 6 períodos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Producción (V. Sánchez)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Protege la “calidad” y los “ingredientes frescos” con menores costos.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Mantener contentos a los clientes, escuchándolos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Permanente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Comercial y Ventas (B. Barreto)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Hace realidad el “trato cercano” que promete la misión.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Dar a conocer la marca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Primeros 2 años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y Ventas (B. Barreto)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reconocimiento no se llega a ser la marca favorita de la región.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STAKEHOLDERS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objetivo y sus grupos de interés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34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ventas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año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26080" y="130759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9232" y="130759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vendemos más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30759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6552" y="130759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ganamos mercado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60720" y="130759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33872" y="130759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precio y publicidad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05740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0574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Producir más eficiente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períodos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0" y="213055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213055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Trabajadores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Producen bien y a menor costo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43400" y="213055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213055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a buen costo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213055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33872" y="213055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sanos = respaldo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78040" y="213055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51192" y="213055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sanitarias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288036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2880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contentos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295351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99232" y="295351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Escuchamos su opinión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43400" y="295351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16552" y="295351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Cercanía y confianza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7033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70332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960120" y="3703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a conocer la marca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años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926080" y="377647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99232" y="377647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reconocen y prefieren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343400" y="3776472"/>
            <a:ext cx="137160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FDCC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16552" y="3776472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diferenciamos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Internos: </a:t>
            </a:r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y trabajadores de producción · </a:t>
            </a:r>
            <a:pPr indent="0" marL="0">
              <a:buNone/>
            </a:pPr>
            <a:r>
              <a:rPr lang="en-US" sz="9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Externos: </a:t>
            </a:r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clientes, proveedores, competencia, bancos y Estado. El equipo está ligado a todos los objetivos.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DE LA EMPRESA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áreas, un responsable por área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607058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463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Administración y Finanzas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Álvaro Quintero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créditos, decidir inversiones, controlar gastos e impuestos.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responsabilidades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resultados de cada período y cuidar la caja.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2900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160705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3360" y="1463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Marketing y Ventas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Brando Barreto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Precio, número de locales y gasto en publicidad.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responsabilidades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más y hacer conocida la marca.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035040" y="132588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60705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12280" y="14630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Producción y Operaciones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48840"/>
            <a:ext cx="2240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Vicente Sánchez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producir, turnos de fábrica y mantención.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y responsabilidades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fallas y cuidar la calidad de los postres.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FIJOS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fijo del Período 3: $2.062.500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931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(Período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 ($)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Turnos de fábrica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(Yogurt + Postres)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operacional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Intereses, comisiones y multas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712.500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COSTO FIJO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2.062.500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663440" y="1188720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66344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multas e intereses pasaron de $0 a $712.500: gasto evitable con mejores decisiones.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VARIABLES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variable del Período 3: $2.515.035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3931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(Período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 ($)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de venta a personas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823.235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de venta a empresas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515.000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 ventas a empresas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Transporte compras de Yogurt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de venta (según lo vendido)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COSTO 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2.515.035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DCC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754880" y="1280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UNITARIO VARIABLE (CUV) POR LITRO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89204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3F7D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Postres de Leche (fabricación propia)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1228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7830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$984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Yogurt (comprado a otra empresa + transporte)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3429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yogurt revendido cuesta casi el doble por litro: conviene evaluar concentrarnos en los Postres de Leche.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 E INTERPRETACIÓN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Vendemos bajo nuestro costo por litro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fijo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$2.062.500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variable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$2.515.035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783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$4.577.535</a:t>
            </a:r>
            <a:endParaRPr lang="en-US" sz="2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57200" y="2606040"/>
          <a:ext cx="43891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120640" y="269748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$4.577.535 ÷ 1.950 litros ≈ $2.348 por litro.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Cobramos menos de lo que cuesta producir y vender, por eso perdemos dinero.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Salidas: subir precios, reducir costos fijos (multas) o vender más volumen para repartir el costo fijo.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EL SIMULADOR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y rentabilidad (P1–P3)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9377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49377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($)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 período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-1.882.360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-2.412.940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-2.388.285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Acumulado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-1.882.360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B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-4.295.300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-6.683.585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669280" y="123444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1371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ACUMULADO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852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-$6.683.585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período (P3): -$2.388.285, algo mejor que P2.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0" y="2788920"/>
            <a:ext cx="3017520" cy="1783080"/>
          </a:xfrm>
          <a:prstGeom prst="roundRect">
            <a:avLst>
              <a:gd name="adj" fmla="val 4103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852160" y="29260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 · ROE = ROA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585216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-23,2%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35204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676656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-42,3%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766560" y="35204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-72,0%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352044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5852160" y="3840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iguales porque no tenemos deuda: activos = patrimonio ($3.316.415 en P3).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INVERSIÓN Y ENDEUDAMIENTO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propio y sin deuda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325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Fábrica de Postres de Leche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636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$3.000.000 (30% del capital), pagada con recursos propios.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404872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4203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4048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préstamos ni línea de crédito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71576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seguro, sin intereses bancarios, pero sin respaldo extra de caja.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57200" y="3483864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621024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4838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Remodelación / cierre de local (P2)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7947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$750.000 no planificados que afectaron el resultado.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303520" y="1325880"/>
            <a:ext cx="3383280" cy="3200400"/>
          </a:xfrm>
          <a:prstGeom prst="roundRect">
            <a:avLst>
              <a:gd name="adj" fmla="val 2286"/>
            </a:avLst>
          </a:prstGeom>
          <a:solidFill>
            <a:srgbClr val="3B2418"/>
          </a:solidFill>
          <a:ln w="12700">
            <a:solidFill>
              <a:srgbClr val="3B241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5544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08076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CAJA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532120" y="2103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$10.000.000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$766.415</a:t>
            </a:r>
            <a:endParaRPr lang="en-US" sz="2400" dirty="0"/>
          </a:p>
        </p:txBody>
      </p:sp>
      <p:sp>
        <p:nvSpPr>
          <p:cNvPr id="20" name="Text 14"/>
          <p:cNvSpPr txBox="1"/>
          <p:nvPr/>
        </p:nvSpPr>
        <p:spPr>
          <a:xfrm>
            <a:off x="553212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consumió el 92% de la caja en tres períodos. Al mismo ritmo, podríamos quedarnos sin caja en el próximo.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DE CADA INTEGRANTE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mirada crítica al trabajo del equipo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607058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Álvaro Quintero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764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y Finanzas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1945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Revisó resultados, cuidó la caja y decidió no endeudarse, aunque eso dejó menos dinero disponible.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4612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1607058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Brando Barreto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1764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y Ventas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21945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Definió precios y subió la publicidad de $150.000 a $600.000; no siempre se tradujo en mejores resultados.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3504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17920" y="1481328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1607058"/>
            <a:ext cx="251460" cy="2514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12280" y="1481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Vicente Sánchez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1764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y Operaciones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19456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Ajustó la producción a la demanda y redujo casi a cero la pérdida por productos vencidos.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EFDCC8"/>
          </a:solidFill>
          <a:ln w="12700">
            <a:solidFill>
              <a:srgbClr val="EFDCC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Autocrítica: </a:t>
            </a:r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inicio faltó coordinar producción y ventas, lo que generó vencidos en el Período 1; esa coordinación mejoró con el tiempo.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Y CÓMO LAS ENFRENTAMOS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internos y externos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16344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Internas (grupo y producción)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94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4505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costó estimar cuánto producir según la demanda real: más de $1.000.000 en vencidos en el Período 1.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7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ENFRENTAMOS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478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Producimos de acuerdo a la demanda real; la pérdida bajó a $14.765 en el Período 3.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508760"/>
            <a:ext cx="502920" cy="50292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7770" y="1634490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32120" y="15727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Externas (entorno)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24505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Intereses, comisiones y multas crecientes: de $0 en el Período 1 a $712.500 en el Período 3.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32918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7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ENFRENTAMOS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892040" y="35478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cada decisión con más cuidado antes de tomarla para prevenir estos cobros.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APRENDIZAJES PARA PRÓXIMAS DECISIONES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haremos distinto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Bajar costos o subir levemente los precios: hoy vendemos bajo el costo real.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5087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dejar de revender Yogurt: cuesta casi el doble por litro que nuestros Postres.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154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deuda no pagamos intereses, pero la caja se agota: habrá que financiarse o gastar menos.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31089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31546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produciendo según la demanda real para no botar productos vencidos.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E4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VINCULACIÓN TEORÍA – PRÁCTICA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visto en clases, en el simulador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27048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6420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4630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Costos fijos y variables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435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permitieron saber si estamos cobrando lo suficiente por cada litro.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2624328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6148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25603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ROE y ROA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253288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Entendimos por qué son iguales cuando la empresa no tiene deuda.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EFE6"/>
          </a:solidFill>
          <a:ln w="12700">
            <a:solidFill>
              <a:srgbClr val="F8EF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8368" y="3721608"/>
            <a:ext cx="548640" cy="548640"/>
          </a:xfrm>
          <a:prstGeom prst="ellipse">
            <a:avLst/>
          </a:prstGeom>
          <a:solidFill>
            <a:srgbClr val="C8793A"/>
          </a:solidFill>
          <a:ln w="12700">
            <a:solidFill>
              <a:srgbClr val="C8793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8587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sector industrial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3931920" y="363016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Barreras de entrada, muchas empresas y competencia por precio o diferenciación se reflejaron en nuestras decisiones de precio, marketing y producción.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Cremoso Antojo · Taller Integrado de Negocios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5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B2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Nuestros costos superaron a lo que vendimos, pero aprendimos a planificar.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286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-$6.683.585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acumulado y ROE/ROA de -72% en el Período 3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91840" y="210312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2286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$1.004.106 → $14.765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por vencidos: mejor planificación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2103120"/>
            <a:ext cx="2560320" cy="1920240"/>
          </a:xfrm>
          <a:prstGeom prst="roundRect">
            <a:avLst>
              <a:gd name="adj" fmla="val 3810"/>
            </a:avLst>
          </a:prstGeom>
          <a:solidFill>
            <a:srgbClr val="5A3A28"/>
          </a:solidFill>
          <a:ln w="12700">
            <a:solidFill>
              <a:srgbClr val="5A3A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22860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79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foco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precios, evitar multas y concentrarnos en Postres de Leche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3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Cremoso Antojo — Global Sym</dc:title>
  <dc:subject>PptxGenJS Presentation</dc:subject>
  <dc:creator>PptxGenJS</dc:creator>
  <cp:lastModifiedBy>PptxGenJS</cp:lastModifiedBy>
  <cp:revision>1</cp:revision>
  <dcterms:created xsi:type="dcterms:W3CDTF">2026-09-24T21:08:44Z</dcterms:created>
  <dcterms:modified xsi:type="dcterms:W3CDTF">2026-09-24T21:08:44Z</dcterms:modified>
</cp:coreProperties>
</file>