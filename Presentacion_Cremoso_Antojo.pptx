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242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3B2420"/>
                </a:solidFill>
                <a:latin typeface="Calibri"/>
              </a:rPr>
              <a:t>Evolución del costo fijo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Gastos del día a día</c:v>
                </c:pt>
              </c:strCache>
            </c:strRef>
          </c:tx>
          <c:spPr>
            <a:solidFill>
              <a:srgbClr val="3B2420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Período 1</c:v>
                  </c:pt>
                  <c:pt idx="1">
                    <c:v>Período 2</c:v>
                  </c:pt>
                  <c:pt idx="2">
                    <c:v>Período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900000</c:v>
                </c:pt>
                <c:pt idx="1">
                  <c:v>865600</c:v>
                </c:pt>
                <c:pt idx="2">
                  <c:v>1350000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Intereses y multas</c:v>
                </c:pt>
              </c:strCache>
            </c:strRef>
          </c:tx>
          <c:spPr>
            <a:solidFill>
              <a:srgbClr val="C23B5E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Período 1</c:v>
                  </c:pt>
                  <c:pt idx="1">
                    <c:v>Período 2</c:v>
                  </c:pt>
                  <c:pt idx="2">
                    <c:v>Período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188700</c:v>
                </c:pt>
                <c:pt idx="2">
                  <c:v>712500</c:v>
                </c:pt>
              </c:numCache>
            </c:numRef>
          </c:val>
        </c:ser>
        <c:dLbls>
          <c:numFmt formatCode="#,##0;-#,##0;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F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5F5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242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3B2420"/>
                </a:solidFill>
                <a:latin typeface="Calibri"/>
              </a:rPr>
              <a:t>Resultado (millones de 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Resultado del período</c:v>
                </c:pt>
              </c:strCache>
            </c:strRef>
          </c:tx>
          <c:spPr>
            <a:solidFill>
              <a:srgbClr val="C23B5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-1.88</c:v>
                </c:pt>
                <c:pt idx="1">
                  <c:v>-2.41</c:v>
                </c:pt>
                <c:pt idx="2">
                  <c:v>-2.39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Resultado acumulado</c:v>
                </c:pt>
              </c:strCache>
            </c:strRef>
          </c:tx>
          <c:spPr>
            <a:solidFill>
              <a:srgbClr val="3B242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-1.88</c:v>
                </c:pt>
                <c:pt idx="1">
                  <c:v>-4.3</c:v>
                </c:pt>
                <c:pt idx="2">
                  <c:v>-6.68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F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8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5F5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242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3B2420"/>
                </a:solidFill>
                <a:latin typeface="Calibri"/>
              </a:rPr>
              <a:t>ROA = ROE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 = ROE</c:v>
                </c:pt>
              </c:strCache>
            </c:strRef>
          </c:tx>
          <c:spPr>
            <a:solidFill>
              <a:srgbClr val="C23B5E"/>
            </a:solidFill>
            <a:ln w="38100" cap="flat">
              <a:solidFill>
                <a:srgbClr val="C23B5E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23B5E"/>
              </a:solidFill>
              <a:ln w="9525" cap="flat">
                <a:solidFill>
                  <a:srgbClr val="C23B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P1</c:v>
                  </c:pt>
                  <c:pt idx="1">
                    <c:v>P2</c:v>
                  </c:pt>
                  <c:pt idx="2">
                    <c:v>P3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-23.2</c:v>
                </c:pt>
                <c:pt idx="1">
                  <c:v>-42.3</c:v>
                </c:pt>
                <c:pt idx="2">
                  <c:v>-72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F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9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5F5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Productos vencidos</c:v>
                </c:pt>
              </c:strCache>
            </c:strRef>
          </c:tx>
          <c:spPr>
            <a:solidFill>
              <a:srgbClr val="2E8B6E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P1</c:v>
                  </c:pt>
                  <c:pt idx="1">
                    <c:v>P3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1004106</c:v>
                </c:pt>
                <c:pt idx="1">
                  <c:v>14765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F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equipo y de la empresa Cremoso Antojo: postres de leche artesanales y reventa de yogurt dentro del simulador Global Sym.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central: el costo medio por litro ($2.348) supera el precio de venta, lo que explica las pérdidas. Todo se financió con capital propio. Aprendizaje positivo: casi eliminamos los vencidos.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Destacar: mercado atomizado, nadie tiene poder de mercado. Barrera de entrada moderada por la fábrica ($3 M, 30% del capital). Barreras de salida bajas. Ojo: en la compra de yogurt, otras empresas actúan como proveedoras aunque también son competidoras.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Competimos por costos (precio bajo, más volumen). Factores de éxito en el simulador: precio, marketing, locales, control de calidad e imagen acumulada.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Misión redactada con los componentes de David (2013): qué, para quién, cómo y filosofía. Valores: cercanía, calidad, accesibilidad, integridad. Cada stakeholder se vincula a uno o más de los 4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Roles: Finanzas controla caja y endeudamiento; Marketing fija precio, locales y publicidad; Producción decide volumen, turnos y mantención. Cada área responde por sus objetivos.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 P3 $2.062.500 (día a día $1.350.000 + financieros $712.500). CV P3 $2.515.035: materia prima y MOD $1.338.235, CIF variables $446.800, gasto de venta $730.000. CT $4.577.535 / 1.950 L = $2.348 por litro, sobre el precio de venta. El yogurt cuesta casi el doble por litro que el postre propio.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Activos = patrimonio: $8.117.640 (P1), $5.704.700 (P2), $3.316.415 (P3). ROA/ROE -23,2%, -42,3%, -72,0%. Cada peso de los socios rinde cada vez peor.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Decisión de no endeudarse: segura pero dejó a la empresa sin colchón. La caja es la alerta: si las pérdidas siguen al ritmo actual, podríamos quedar sin caja el próximo período.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Interna: coordinación producción-ventas. Externa: cobros financieros que no entendíamos. Cuatro aprendizajes concretos para los próximos períodos.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idea: la teoría de costos y rentabilidad explicó nuestros números; el plan es subir margen, cortar gastos evitables y enfocarnos en el producto propio. Agradecer y abrir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C23B5E">
              <a:alpha val="65000"/>
            </a:srgbClr>
          </a:solidFill>
          <a:ln w="12700">
            <a:solidFill>
              <a:srgbClr val="C23B5E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560320"/>
            <a:ext cx="2926080" cy="2926080"/>
          </a:xfrm>
          <a:prstGeom prst="ellipse">
            <a:avLst/>
          </a:prstGeom>
          <a:solidFill>
            <a:srgbClr val="FBE9EE">
              <a:alpha val="20000"/>
            </a:srgbClr>
          </a:solidFill>
          <a:ln w="12700">
            <a:solidFill>
              <a:srgbClr val="FBE9EE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Cremoso Antojo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488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y análisis de la empresa · Simulador Global Sym (Períodos 1 a 3)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832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Quintero · Brando Barreto · Vicente Sánchez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Rodrigo Catalán Osorio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Integrado de Negocios · Duoc UC, sede Antonio Varas · 22/09/2026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ejecutivo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períodos jugados: aprendimos a producir mejor, pero aún no cubrimos nuestros costos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BE9EE"/>
          </a:solidFill>
          <a:ln w="12700">
            <a:solidFill>
              <a:srgbClr val="FBE9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$4,58 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94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 del Período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32588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BE9EE"/>
          </a:solidFill>
          <a:ln w="12700">
            <a:solidFill>
              <a:srgbClr val="FBE9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4630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2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$2.348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194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medio por litro vs. precio $1.200–$1.350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BE9EE"/>
          </a:solidFill>
          <a:ln w="12700">
            <a:solidFill>
              <a:srgbClr val="FBE9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4630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2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–$6,68 M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194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acumulado al Período 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32588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BE9EE"/>
          </a:solidFill>
          <a:ln w="12700">
            <a:solidFill>
              <a:srgbClr val="FBE9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4630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–72%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1945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= ROE en el Período 3 (sin deuda)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411480" cy="411480"/>
          </a:xfrm>
          <a:prstGeom prst="ellipse">
            <a:avLst/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3398825"/>
            <a:ext cx="197510" cy="19751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05840" y="32918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Logro: 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por productos vencidos bajaron de $1.004.106 (P1) a solo $14.765 (P3).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3931920"/>
            <a:ext cx="411480" cy="411480"/>
          </a:xfrm>
          <a:prstGeom prst="ellipse">
            <a:avLst/>
          </a:prstGeom>
          <a:solidFill>
            <a:srgbClr val="C23B5E"/>
          </a:solidFill>
          <a:ln w="12700">
            <a:solidFill>
              <a:srgbClr val="C23B5E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4038905"/>
            <a:ext cx="197510" cy="19751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05840" y="39319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precios, eliminar multas y comisiones evitables y evaluar si seguir revendiendo yogurt.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y sector industrial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Lácteos dulces: yogurt y postres de leche en un único mercado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Cremoso Antojo elabora postres de leche artesanales —recetas tradicionales con imagen moderna— y revende yogurt comprado a otras empresas del sector.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presentación resume cómo nos organizamos, nuestros costos y los resultados de los Períodos 1 a 3.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1234440"/>
            <a:ext cx="502920" cy="502920"/>
          </a:xfrm>
          <a:prstGeom prst="ellipse">
            <a:avLst/>
          </a:prstGeom>
          <a:solidFill>
            <a:srgbClr val="C23B5E"/>
          </a:solidFill>
          <a:ln w="12700">
            <a:solidFill>
              <a:srgbClr val="C23B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199" y="13651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03520" y="1216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empresas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303520" y="14904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atomizado en oferta, demanda y proveedores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2103120"/>
            <a:ext cx="502920" cy="502920"/>
          </a:xfrm>
          <a:prstGeom prst="ellipse">
            <a:avLst/>
          </a:prstGeom>
          <a:solidFill>
            <a:srgbClr val="C23B5E"/>
          </a:solidFill>
          <a:ln w="12700">
            <a:solidFill>
              <a:srgbClr val="C23B5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199" y="223387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20848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Rivalidad intensa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303520" y="23591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compite por precio, marketing, locales y calidad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663440" y="2971800"/>
            <a:ext cx="502920" cy="502920"/>
          </a:xfrm>
          <a:prstGeom prst="ellipse">
            <a:avLst/>
          </a:prstGeom>
          <a:solidFill>
            <a:srgbClr val="C23B5E"/>
          </a:solidFill>
          <a:ln w="12700">
            <a:solidFill>
              <a:srgbClr val="C23B5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199" y="310255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03520" y="2953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moderada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303520" y="32278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Fábrica $3.000.000 = 30% del capital; salida baja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663440" y="3840480"/>
            <a:ext cx="502920" cy="502920"/>
          </a:xfrm>
          <a:prstGeom prst="ellipse">
            <a:avLst/>
          </a:prstGeom>
          <a:solidFill>
            <a:srgbClr val="C23B5E"/>
          </a:solidFill>
          <a:ln w="12700">
            <a:solidFill>
              <a:srgbClr val="C23B5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199" y="397123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03520" y="3822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Sustitutos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5303520" y="40965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Heladerías, pastelerías, galletas, chocolates, gelatinas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57200" y="2880360"/>
            <a:ext cx="3840480" cy="1600200"/>
          </a:xfrm>
          <a:prstGeom prst="roundRect">
            <a:avLst>
              <a:gd name="adj" fmla="val 5714"/>
            </a:avLst>
          </a:prstGeom>
          <a:solidFill>
            <a:srgbClr val="FBE9EE"/>
          </a:solidFill>
          <a:ln w="12700">
            <a:solidFill>
              <a:srgbClr val="FBE9EE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40080" y="2971800"/>
            <a:ext cx="3520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 del entorno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consumidores finales y locales comerciales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leche, crema, insumos, envases, cadena de frío y yogurt terminado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Competidores: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otras 13 empresas del sector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del negocio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quién servimos, qué necesidad cubrimos y con qué tecnología?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44752"/>
            <a:ext cx="502920" cy="502920"/>
          </a:xfrm>
          <a:prstGeom prst="ellipse">
            <a:avLst/>
          </a:prstGeom>
          <a:solidFill>
            <a:srgbClr val="C23B5E"/>
          </a:solidFill>
          <a:ln w="12700">
            <a:solidFill>
              <a:srgbClr val="C23B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575511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4447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clientes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57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Familias, jóvenes y adultos de consumo habitual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Locales comerciales que buscan un proveedor confiable para revender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64408" y="1280160"/>
            <a:ext cx="26060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47288" y="1444752"/>
            <a:ext cx="502920" cy="502920"/>
          </a:xfrm>
          <a:prstGeom prst="ellipse">
            <a:avLst/>
          </a:prstGeom>
          <a:solidFill>
            <a:srgbClr val="C23B5E"/>
          </a:solidFill>
          <a:ln w="12700">
            <a:solidFill>
              <a:srgbClr val="C23B5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047" y="1575511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87368" y="14447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47288" y="2057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 algo dulce, rico y con sabor casero sin prepararlo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Lácteos frescos, seguros y de calidad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71616" y="1280160"/>
            <a:ext cx="26060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54496" y="1444752"/>
            <a:ext cx="502920" cy="502920"/>
          </a:xfrm>
          <a:prstGeom prst="ellipse">
            <a:avLst/>
          </a:prstGeom>
          <a:solidFill>
            <a:srgbClr val="C23B5E"/>
          </a:solidFill>
          <a:ln w="12700">
            <a:solidFill>
              <a:srgbClr val="C23B5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255" y="1575511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94576" y="14447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254496" y="2057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Fábrica propia de postres de leche (turnos y mantención)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frío y transporte de compras y ventas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calidad en cada lote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3B2420"/>
          </a:solidFill>
          <a:ln w="12700">
            <a:solidFill>
              <a:srgbClr val="3B242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5800" y="38404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Estrategia: competir por costos.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bajos para vender volumen. Los líderes combinan buen precio, marketing constante, suficientes locales, calidad e imagen acumulada.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Misión, visión, objetivos y stakeholders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BE9EE"/>
          </a:solidFill>
          <a:ln w="12700">
            <a:solidFill>
              <a:srgbClr val="FBE9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78992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postres de leche artesanales y distribuir yogurt de calidad, a precio accesible, para familias, jóvenes, adultos y locales comerciales.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2029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la marca de postres de leche artesanales líder en preferencia de la región.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organizacionales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154680"/>
            <a:ext cx="292608" cy="292608"/>
          </a:xfrm>
          <a:prstGeom prst="ellipse">
            <a:avLst/>
          </a:prstGeom>
          <a:solidFill>
            <a:srgbClr val="3B2420"/>
          </a:solidFill>
          <a:ln w="12700">
            <a:solidFill>
              <a:srgbClr val="3B24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546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ventas el primer año (Mkt y Ventas)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538728"/>
            <a:ext cx="292608" cy="292608"/>
          </a:xfrm>
          <a:prstGeom prst="ellipse">
            <a:avLst/>
          </a:prstGeom>
          <a:solidFill>
            <a:srgbClr val="3B2420"/>
          </a:solidFill>
          <a:ln w="12700">
            <a:solidFill>
              <a:srgbClr val="3B24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5387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eficiencia productiva en 6 períodos (Producción)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922776"/>
            <a:ext cx="292608" cy="292608"/>
          </a:xfrm>
          <a:prstGeom prst="ellipse">
            <a:avLst/>
          </a:prstGeom>
          <a:solidFill>
            <a:srgbClr val="3B2420"/>
          </a:solidFill>
          <a:ln w="12700">
            <a:solidFill>
              <a:srgbClr val="3B24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922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9227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satisfacción del cliente (Mkt y Ventas)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306824"/>
            <a:ext cx="292608" cy="292608"/>
          </a:xfrm>
          <a:prstGeom prst="ellipse">
            <a:avLst/>
          </a:prstGeom>
          <a:solidFill>
            <a:srgbClr val="3B2420"/>
          </a:solidFill>
          <a:ln w="12700">
            <a:solidFill>
              <a:srgbClr val="3B24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306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3068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de marca en 2 años (Mkt y Ventas)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y su vínculo con los objetivos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2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2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B24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Socios / directivos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9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9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3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2 · 3 ·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9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Trabajadores de producción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3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9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9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3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3 ·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9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3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Competidores (13)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9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9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3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9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3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(SII, Seremi, municipio)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9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5F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9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3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E9EE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de la empresa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áreas, cada una con un responsable y decisiones clave en el simulador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3246120"/>
          </a:xfrm>
          <a:prstGeom prst="rect">
            <a:avLst/>
          </a:prstGeom>
          <a:solidFill>
            <a:srgbClr val="FBE9EE"/>
          </a:solidFill>
          <a:ln w="12700">
            <a:solidFill>
              <a:srgbClr val="FB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35608" y="1463040"/>
            <a:ext cx="640080" cy="640080"/>
          </a:xfrm>
          <a:prstGeom prst="ellipse">
            <a:avLst/>
          </a:prstGeom>
          <a:solidFill>
            <a:srgbClr val="3B2420"/>
          </a:solidFill>
          <a:ln w="12700">
            <a:solidFill>
              <a:srgbClr val="3B242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2029" y="16294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 y Finanzas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Quintero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y procesos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3375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e inversiones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caja, gastos e impuestos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resultados por período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64408" y="1280160"/>
            <a:ext cx="2606040" cy="3246120"/>
          </a:xfrm>
          <a:prstGeom prst="rect">
            <a:avLst/>
          </a:prstGeom>
          <a:solidFill>
            <a:srgbClr val="FBE9EE"/>
          </a:solidFill>
          <a:ln w="12700">
            <a:solidFill>
              <a:srgbClr val="FBE9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42816" y="1463040"/>
            <a:ext cx="640080" cy="640080"/>
          </a:xfrm>
          <a:prstGeom prst="ellipse">
            <a:avLst/>
          </a:prstGeom>
          <a:solidFill>
            <a:srgbClr val="3B2420"/>
          </a:solidFill>
          <a:ln w="12700">
            <a:solidFill>
              <a:srgbClr val="3B242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237" y="16294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01568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y Ventas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01568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Brando Barreto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493008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y procesos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3493008" y="33375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cada producto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locales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de publicidad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71616" y="1280160"/>
            <a:ext cx="2606040" cy="3246120"/>
          </a:xfrm>
          <a:prstGeom prst="rect">
            <a:avLst/>
          </a:prstGeom>
          <a:solidFill>
            <a:srgbClr val="FBE9EE"/>
          </a:solidFill>
          <a:ln w="12700">
            <a:solidFill>
              <a:srgbClr val="FBE9E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50024" y="1463040"/>
            <a:ext cx="640080" cy="640080"/>
          </a:xfrm>
          <a:prstGeom prst="ellipse">
            <a:avLst/>
          </a:prstGeom>
          <a:solidFill>
            <a:srgbClr val="3B2420"/>
          </a:solidFill>
          <a:ln w="12700">
            <a:solidFill>
              <a:srgbClr val="3B242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445" y="162946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08776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Producción y Operaciones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208776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Vicente Sánchez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300216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y procesos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6300216" y="333756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de producción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turnos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Mantención para evitar fallas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Costos fijos, variables y totales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3 · el costo medio supera el precio de venta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4206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88720"/>
          <a:ext cx="3840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fijo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$2.062.500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$2.515.035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$4.577.535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E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846320" y="2286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 Postres: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$500/L (fabricamos)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CUV Yogurt: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$984/L (compra + transporte)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846320" y="297180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3B2420"/>
          </a:solidFill>
          <a:ln w="12700">
            <a:solidFill>
              <a:srgbClr val="3B242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029200" y="29718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E9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$2.348</a:t>
            </a:r>
            <a:endParaRPr lang="en-US" sz="30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medio por litro (1.950 L) vs. precio $1.200–$1.350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Intereses y multas: de $0 (P1) a $712.500 (P3) — gastos evitables.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en el simulador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período, acumulado y rentabilidad (P1–P3)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43000"/>
          <a:ext cx="42976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846320" y="1143000"/>
          <a:ext cx="38404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846320" y="3337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Perdimos $6,68 M: más de la mitad del capital inicial.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pérdida dejó de crecer (P3 &lt; P2).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= ROE porque no hay deuda: activos = patrimonio.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Inversión, deuda y aporte del equipo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" cy="502920"/>
          </a:xfrm>
          <a:prstGeom prst="ellipse">
            <a:avLst/>
          </a:prstGeom>
          <a:solidFill>
            <a:srgbClr val="3B2420"/>
          </a:solidFill>
          <a:ln w="12700">
            <a:solidFill>
              <a:srgbClr val="3B242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136599"/>
            <a:ext cx="241402" cy="24140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987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Fábrica de postres: $3.000.000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261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del capital, 100% con recursos propios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502920" cy="502920"/>
          </a:xfrm>
          <a:prstGeom prst="ellipse">
            <a:avLst/>
          </a:prstGeom>
          <a:solidFill>
            <a:srgbClr val="3B2420"/>
          </a:solidFill>
          <a:ln w="12700">
            <a:solidFill>
              <a:srgbClr val="3B242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005279"/>
            <a:ext cx="241402" cy="2414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56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préstamos ni línea de crédito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2130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seguro, pero sin respaldo financiero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2743200"/>
            <a:ext cx="502920" cy="502920"/>
          </a:xfrm>
          <a:prstGeom prst="ellipse">
            <a:avLst/>
          </a:prstGeom>
          <a:solidFill>
            <a:srgbClr val="C23B5E"/>
          </a:solidFill>
          <a:ln w="12700">
            <a:solidFill>
              <a:srgbClr val="C23B5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287395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724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Caja: de $10 M a $766.415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097280" y="2999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fue el 92% en tres períodos: alerta principal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3611880"/>
            <a:ext cx="502920" cy="502920"/>
          </a:xfrm>
          <a:prstGeom prst="ellipse">
            <a:avLst/>
          </a:prstGeom>
          <a:solidFill>
            <a:srgbClr val="3B2420"/>
          </a:solidFill>
          <a:ln w="12700">
            <a:solidFill>
              <a:srgbClr val="3B242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3742639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no planificados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097280" y="3867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$750.000 en local (P2) y $712.500 en multas (P3)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663440" y="1005840"/>
            <a:ext cx="4023360" cy="3520440"/>
          </a:xfrm>
          <a:prstGeom prst="rect">
            <a:avLst/>
          </a:prstGeom>
          <a:solidFill>
            <a:srgbClr val="FBE9EE"/>
          </a:solidFill>
          <a:ln w="12700">
            <a:solidFill>
              <a:srgbClr val="FBE9EE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de cada integrante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4846320" y="146304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· Finanzas: </a:t>
            </a:r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controló la caja y evitó deuda, a costa de menos recursos disponibles.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Brando · Marketing: </a:t>
            </a:r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subió la publicidad de $150.000 a $600.000; no siempre se tradujo en resultados.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Vicente · Producción: </a:t>
            </a:r>
            <a:pPr indent="0" marL="0">
              <a:spcAft>
                <a:spcPts val="12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ajustó producción a la demanda y casi eliminó los vencidos.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3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Autocrítica: </a:t>
            </a:r>
            <a:pPr indent="0" marL="0">
              <a:spcAft>
                <a:spcPts val="1200"/>
              </a:spcAft>
              <a:buNone/>
            </a:pPr>
            <a:r>
              <a:rPr lang="en-US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inicio faltó coordinar producción y ventas.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Dificultades y aprendizajes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nos costó y cómo lo enfrentamos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3619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 estimación de producción: vencidos por $1.004.106 en P1.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 según la demanda real → solo $14.765 en P3.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59152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450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2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06624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Intereses, comisiones y multas: de $0 a $712.500.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cada decisión antes de ingresarla al simulador.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3566160"/>
          <a:ext cx="402336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84632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 para próximas decisiones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16459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precios o bajar costos: hoy vendemos bajo el costo.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5349240" y="23774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dejar de revender yogurt: cuesta casi el doble por litro.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5349240" y="31089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escasa: pedir financiamiento o recortar gastos.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5349240" y="38404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produciendo según lo que realmente se vende.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y práctica · Conclusiones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C23B5E"/>
          </a:solidFill>
          <a:ln w="12700">
            <a:solidFill>
              <a:srgbClr val="C23B5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1615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fijos y variables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mostraron que cobramos menos de lo que cuesta cada litro.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64408" y="1097280"/>
            <a:ext cx="457200" cy="457200"/>
          </a:xfrm>
          <a:prstGeom prst="ellipse">
            <a:avLst/>
          </a:prstGeom>
          <a:solidFill>
            <a:srgbClr val="C23B5E"/>
          </a:solidFill>
          <a:ln w="12700">
            <a:solidFill>
              <a:srgbClr val="C23B5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16152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831336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y ROA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3264408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iguales porque no hay deuda entre activos y patrimonio.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071616" y="1097280"/>
            <a:ext cx="457200" cy="457200"/>
          </a:xfrm>
          <a:prstGeom prst="ellipse">
            <a:avLst/>
          </a:prstGeom>
          <a:solidFill>
            <a:srgbClr val="C23B5E"/>
          </a:solidFill>
          <a:ln w="12700">
            <a:solidFill>
              <a:srgbClr val="C23B5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2161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638544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industrial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071616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Barreras, rivalidad y estrategia de precio se vieron en cada decisión.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2560320"/>
            <a:ext cx="82296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2697480"/>
            <a:ext cx="7772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Nuestros costos superaron lo que ganamos vendiendo: resultado acumulado de –$6.683.585 y ROE/ROA de –72% en el Período 3.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positivo: aprendimos a planificar y casi eliminamos las pérdidas por vencidos.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pasos: revisar precios, evitar multas y concentrarnos en los Postres de Leche, donde el costo por litro es menor.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Cremoso Antojo – Global Sym</dc:title>
  <dc:subject>PptxGenJS Presentation</dc:subject>
  <dc:creator>PptxGenJS</dc:creator>
  <cp:lastModifiedBy>PptxGenJS</cp:lastModifiedBy>
  <cp:revision>1</cp:revision>
  <dcterms:created xsi:type="dcterms:W3CDTF">2026-09-25T22:51:27Z</dcterms:created>
  <dcterms:modified xsi:type="dcterms:W3CDTF">2026-09-25T22:51:27Z</dcterms:modified>
</cp:coreProperties>
</file>